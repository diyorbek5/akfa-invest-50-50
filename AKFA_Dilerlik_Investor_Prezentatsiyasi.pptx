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0.168</c:v>
                </c:pt>
                <c:pt idx="1">
                  <c:v>0.244</c:v>
                </c:pt>
                <c:pt idx="2">
                  <c:v>0.295</c:v>
                </c:pt>
                <c:pt idx="3">
                  <c:v>0.343</c:v>
                </c:pt>
                <c:pt idx="4">
                  <c:v>0.498</c:v>
                </c:pt>
                <c:pt idx="5">
                  <c:v>0.726</c:v>
                </c:pt>
                <c:pt idx="6">
                  <c:v>0.55</c:v>
                </c:pt>
                <c:pt idx="7">
                  <c:v>0.755</c:v>
                </c:pt>
                <c:pt idx="8">
                  <c:v>0.72</c:v>
                </c:pt>
                <c:pt idx="9">
                  <c:v>0.744</c:v>
                </c:pt>
                <c:pt idx="10">
                  <c:v>0.676</c:v>
                </c:pt>
                <c:pt idx="11">
                  <c:v>0.203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 (mlrd)</c:v>
                </c:pt>
              </c:strCache>
            </c:strRef>
          </c:tx>
          <c:spPr>
            <a:solidFill>
              <a:srgbClr val="92979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 (mlrd)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EE35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2023 Aylanma</c:v>
                </c:pt>
              </c:strCache>
            </c:strRef>
          </c:tx>
          <c:spPr>
            <a:solidFill>
              <a:srgbClr val="3B82F6"/>
            </a:solidFill>
            <a:ln w="25400" cap="flat">
              <a:solidFill>
                <a:srgbClr val="3B82F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B82F6"/>
              </a:solidFill>
              <a:ln w="9525" cap="flat">
                <a:solidFill>
                  <a:srgbClr val="3B82F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10.34</c:v>
                </c:pt>
                <c:pt idx="1">
                  <c:v>12.3</c:v>
                </c:pt>
                <c:pt idx="2">
                  <c:v>13.5</c:v>
                </c:pt>
                <c:pt idx="3">
                  <c:v>14.7</c:v>
                </c:pt>
                <c:pt idx="4">
                  <c:v>16.2</c:v>
                </c:pt>
                <c:pt idx="5">
                  <c:v>19.4</c:v>
                </c:pt>
                <c:pt idx="6">
                  <c:v>16.5</c:v>
                </c:pt>
                <c:pt idx="7">
                  <c:v>21</c:v>
                </c:pt>
                <c:pt idx="8">
                  <c:v>19.3</c:v>
                </c:pt>
                <c:pt idx="9">
                  <c:v>20.5</c:v>
                </c:pt>
                <c:pt idx="10">
                  <c:v>18.5</c:v>
                </c:pt>
                <c:pt idx="11">
                  <c:v>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 Aylanma</c:v>
                </c:pt>
              </c:strCache>
            </c:strRef>
          </c:tx>
          <c:spPr>
            <a:solidFill>
              <a:srgbClr val="B9BEC2"/>
            </a:solidFill>
            <a:ln w="25400" cap="flat">
              <a:solidFill>
                <a:srgbClr val="B9BE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9BEC2"/>
              </a:solidFill>
              <a:ln w="9525" cap="flat">
                <a:solidFill>
                  <a:srgbClr val="B9BE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10.1</c:v>
                </c:pt>
                <c:pt idx="1">
                  <c:v>9.2</c:v>
                </c:pt>
                <c:pt idx="2">
                  <c:v>9</c:v>
                </c:pt>
                <c:pt idx="3">
                  <c:v>11.8</c:v>
                </c:pt>
                <c:pt idx="4">
                  <c:v>14.7</c:v>
                </c:pt>
                <c:pt idx="5">
                  <c:v>17</c:v>
                </c:pt>
                <c:pt idx="6">
                  <c:v>17.8</c:v>
                </c:pt>
                <c:pt idx="7">
                  <c:v>16</c:v>
                </c:pt>
                <c:pt idx="8">
                  <c:v>21.2</c:v>
                </c:pt>
                <c:pt idx="9">
                  <c:v>18.7</c:v>
                </c:pt>
                <c:pt idx="10">
                  <c:v>14.9</c:v>
                </c:pt>
                <c:pt idx="11">
                  <c:v>11.8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 Aylanma</c:v>
                </c:pt>
              </c:strCache>
            </c:strRef>
          </c:tx>
          <c:spPr>
            <a:solidFill>
              <a:srgbClr val="EE3526"/>
            </a:solidFill>
            <a:ln w="25400" cap="flat">
              <a:solidFill>
                <a:srgbClr val="EE352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E3526"/>
              </a:solidFill>
              <a:ln w="9525" cap="flat">
                <a:solidFill>
                  <a:srgbClr val="EE352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Yanvar</c:v>
                  </c:pt>
                  <c:pt idx="1">
                    <c:v>Fevral</c:v>
                  </c:pt>
                  <c:pt idx="2">
                    <c:v>Mart</c:v>
                  </c:pt>
                  <c:pt idx="3">
                    <c:v>Aprel</c:v>
                  </c:pt>
                  <c:pt idx="4">
                    <c:v>May</c:v>
                  </c:pt>
                  <c:pt idx="5">
                    <c:v>Iyun</c:v>
                  </c:pt>
                  <c:pt idx="6">
                    <c:v>Iyul</c:v>
                  </c:pt>
                  <c:pt idx="7">
                    <c:v>Avgust</c:v>
                  </c:pt>
                  <c:pt idx="8">
                    <c:v>Sentabr</c:v>
                  </c:pt>
                  <c:pt idx="9">
                    <c:v>Oktabr</c:v>
                  </c:pt>
                  <c:pt idx="10">
                    <c:v>Noyabr</c:v>
                  </c:pt>
                  <c:pt idx="11">
                    <c:v>Dekabr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15.5</c:v>
                </c:pt>
                <c:pt idx="1">
                  <c:v>7.3</c:v>
                </c:pt>
                <c:pt idx="2">
                  <c:v>6.8</c:v>
                </c:pt>
                <c:pt idx="3">
                  <c:v>9.8</c:v>
                </c:pt>
                <c:pt idx="4">
                  <c:v>8.2</c:v>
                </c:pt>
                <c:pt idx="5">
                  <c:v>13.8</c:v>
                </c:pt>
                <c:pt idx="6">
                  <c:v>13.9</c:v>
                </c:pt>
                <c:pt idx="7">
                  <c:v>17.4</c:v>
                </c:pt>
                <c:pt idx="8">
                  <c:v>10.2</c:v>
                </c:pt>
                <c:pt idx="9">
                  <c:v>11.7</c:v>
                </c:pt>
                <c:pt idx="10">
                  <c:v>9.5</c:v>
                </c:pt>
                <c:pt idx="11">
                  <c:v>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Aylanma (mlrd UZS)</c:v>
                </c:pt>
              </c:strCache>
            </c:strRef>
          </c:tx>
          <c:spPr>
            <a:solidFill>
              <a:srgbClr val="B9BE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193.24</c:v>
                </c:pt>
                <c:pt idx="1">
                  <c:v>172.2</c:v>
                </c:pt>
                <c:pt idx="2">
                  <c:v>133.1</c:v>
                </c:pt>
                <c:pt idx="3">
                  <c:v>276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Sof Foyda (mlrd UZS)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Prognoz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5.92</c:v>
                </c:pt>
                <c:pt idx="1">
                  <c:v>4.63</c:v>
                </c:pt>
                <c:pt idx="2">
                  <c:v>2.59</c:v>
                </c:pt>
                <c:pt idx="3">
                  <c:v>4.52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B9BEC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Taqsimot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E3526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8B5CF6"/>
              </a:solidFill>
              <a:effectLst/>
            </c:spPr>
          </c:dPt>
          <c:dPt>
            <c:idx val="5"/>
            <c:bubble3D val="0"/>
            <c:spPr>
              <a:solidFill>
                <a:srgbClr val="92979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Sheet1!$A$2:$A$7</c:f>
              <c:strCache>
                <c:ptCount val="6"/>
                <c:pt idx="0">
                  <c:v>Tovar Summasi</c:v>
                </c:pt>
                <c:pt idx="1">
                  <c:v>Hamkorlar Limiti</c:v>
                </c:pt>
                <c:pt idx="2">
                  <c:v>Transport</c:v>
                </c:pt>
                <c:pt idx="3">
                  <c:v>Ombor</c:v>
                </c:pt>
                <c:pt idx="4">
                  <c:v>Marketing</c:v>
                </c:pt>
                <c:pt idx="5">
                  <c:v>Rezerv</c:v>
                </c:pt>
              </c:strCache>
            </c:strRef>
          </c:cat>
          <c:val>
            <c:numRef>
              <c:f>Sheet1!$B$2:$B$7</c:f>
              <c:numCache>
                <c:ptCount val="6"/>
                <c:pt idx="0">
                  <c:v>1500000</c:v>
                </c:pt>
                <c:pt idx="1">
                  <c:v>300000</c:v>
                </c:pt>
                <c:pt idx="2">
                  <c:v>100000</c:v>
                </c:pt>
                <c:pt idx="3">
                  <c:v>20000</c:v>
                </c:pt>
                <c:pt idx="4">
                  <c:v>20000</c:v>
                </c:pt>
                <c:pt idx="5">
                  <c:v>60000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 5050\assets\hero-b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1097280" y="1371600"/>
            <a:ext cx="3200400" cy="411480"/>
          </a:xfrm>
          <a:prstGeom prst="roundRect">
            <a:avLst>
              <a:gd name="adj" fmla="val 44444"/>
            </a:avLst>
          </a:prstGeom>
          <a:solidFill>
            <a:srgbClr val="EE3526">
              <a:alpha val="85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13716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STRATEGIK INVESTITSIYA MEMORANDUMI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97280" y="201168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</a:t>
            </a:r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BIZNESI
</a:t>
            </a:r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Keng Qamrovli Investor Taqdimoti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1097280" y="420624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Alyuminiy va PVX profillari, radiatorlar va butlovchi qismlar dilerligi tarmog‘i.</a:t>
            </a:r>
            <a:endParaRPr lang="en-US" sz="1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yillar to‘liq moliyaviy hisoboti va 2,000,000$ investitsiya modeli.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09728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9728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 ta Filial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09728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HUDUDIY FILIALLAR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65760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65760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400+ Tsex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HAMKOR TSEXOVIKLAR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498.5 mlrd UZS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21792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3 YILLIK JAMI AYLANMA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8778240" y="53035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242628">
              <a:alpha val="75000"/>
            </a:srgbClr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778240" y="53949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$2,000,000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778240" y="5852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E3526"/>
                </a:solidFill>
              </a:rPr>
              <a:t>INVESTITSIYA TAKLIFI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BIZNES PROFILI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Kompaniya Faoliyati va Asosiy Yo‘nalishlari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ASOSIY FAOLIYAT VA MAHSULOTLAR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46634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AKFA Mahsulotlari Dilerligi: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brendi ostidagi barcha turdagi alyuminiy va PVX profillarni to‘g‘ridan-to‘g‘ri yetkazib berish.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Aksessuarlar va Furnitura: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Eshik va rom ishlab chiqarish uchun zarur bo‘lgan qulflar, tutqichlar, mexanizmlar va germetik vositalar.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Radiator Tizimlari: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Isitish mavsumi uchun bimetall va alyuminiy radiatorlar hamda montaj elementlari savdosi.
</a:t>
            </a:r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• Ombor va Logistika Xizmati: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Buyurtmalarni tezkor qabul qilish va shaxsiy avtopark (7 ta Gazel) orqali manzilli yetkazib berish.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463040"/>
            <a:ext cx="5212080" cy="4846320"/>
          </a:xfrm>
          <a:prstGeom prst="roundRect">
            <a:avLst>
              <a:gd name="adj" fmla="val 283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4592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MIJOZLAR KONTINGENTI VA B2B MODEL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92240" y="219456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22860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01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132320" y="22860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Hamkor Tsexoviklar (Top segment)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0" y="26060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400 dan ortiq doimiy eshik-rom ishlab chiqaruvchi tsexlar. Asosiy aylanma lokomotivi.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92240" y="315468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3246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132320" y="32461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Obyekt Quruvchilari (Developerlar)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356616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Yirik va o‘rta turar-joy hamda noturar joy binolari qurilish pudratchilari.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92240" y="411480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0" y="4206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32320" y="42062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Davlat Obyektlari va Tenderlar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32320" y="452628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Maktab, shifoxona va davlat muassasalari loyihalari uchun profillar ta’minoti.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492240" y="5074920"/>
            <a:ext cx="4663440" cy="868680"/>
          </a:xfrm>
          <a:prstGeom prst="roundRect">
            <a:avLst>
              <a:gd name="adj" fmla="val 10526"/>
            </a:avLst>
          </a:prstGeom>
          <a:solidFill>
            <a:srgbClr val="2D303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0" y="5166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E3526"/>
                </a:solidFill>
              </a:rPr>
              <a:t>04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132320" y="5166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Ustalar va Brigadalar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32320" y="548640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Shaxsiy xususiy buyurtmalar asosida ishlaydigan montaj ustalari tarmog‘i.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ASOSIY METRIKALAR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Ko‘rsatkichlari — KPI Dashboard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JAMI AYLANMA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498.5 mlrd UZS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193.2 mlrd | 2024: 172.2 mlrd | 2025: 133.1 mlrd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891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3 YILLIK SOF FOYDA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13.14 mlrd UZS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2023: 5.92 mlrd | 2024: 4.63 mlrd | 2025: 2.59 mlrd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55448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0" y="155448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7373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HAMKOR TSEXOVIKLAR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400+ Tsex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29600" y="292608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Olmaliq: 110 | Guliston: 110 | Bo‘ka: 90 | Yangiyo‘l: 90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LOGISTIKA PARKI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ta Gazel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9144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Doimiy reyslar, o‘z hisobidan bepul manzilli yetkazish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91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TOSHKENT VIL. BOZOR ULUSHI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30.0%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Viloyat oylik 3 mln $ bozorida mustahkam yetakchilik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9319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46720" y="3931920"/>
            <a:ext cx="3383280" cy="54864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41148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2979B"/>
                </a:solidFill>
              </a:rPr>
              <a:t>INVESTITSIYA SO‘ROVI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29600" y="44805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8229600" y="5303520"/>
            <a:ext cx="3017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75% tovar aylanmasi, 15% tsex limitlari, 5% logistika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BIZNES AVZALLIKLARI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Biznes Modeli va 9 Ta Strategik Afzallik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173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Mutlaq Brendi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O‘zbekiston bozorining 65% ulushi, aholi va quruvchilarning birinchi tanlovi.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Keng Assortiment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Alyuminiy va PVX barcha seriyalari, butlovchilar va qulay yetkazib berish xizmati.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46720" y="146304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0" y="164592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0" y="1645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732520" y="16459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Bozorni Himoya Qilish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29600" y="210312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AKFA asoschilari xorijiy sifatsiz raqobatchilardan ichki bozorni to‘liq himoyalaydi.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173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Kapital Qadri Saqlanishi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Tovar narxi valyutaga ($) bog‘langan, profillar zanglamaydi va uzoq saqlanadi.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0749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100% Shaffof Buxgalteriya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tovarlar qat’iy schyot-faktura va rasmiy buxgalteriya orqali tarqatiladi.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46720" y="310896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29600" y="329184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0" y="3291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732520" y="3291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Qurilish Sektori O‘sishi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29600" y="374904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Yurtimizda yangi obyektlar va bino-inshootlar soni muttasil oshib bormoqda.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4173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 Yillik Tajriba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9144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Ushbu bozor va yo‘nalishda jamoamiz 7 yildan buyon professional faoliyat yuritadi.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3891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2" name="Text 40"/>
          <p:cNvSpPr/>
          <p:nvPr/>
        </p:nvSpPr>
        <p:spPr>
          <a:xfrm>
            <a:off x="45720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749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Professional Servis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45720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Buyurtmalarni tezkor qabul qilish va call-markaz orqali o‘z vaqtida yetkazish.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046720" y="4754880"/>
            <a:ext cx="3383280" cy="1463040"/>
          </a:xfrm>
          <a:prstGeom prst="roundRect">
            <a:avLst>
              <a:gd name="adj" fmla="val 6250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0" y="4937760"/>
            <a:ext cx="365760" cy="36576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47" name="Text 45"/>
          <p:cNvSpPr/>
          <p:nvPr/>
        </p:nvSpPr>
        <p:spPr>
          <a:xfrm>
            <a:off x="8229600" y="4937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732520" y="49377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Doimiy Barqaror Talab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229600" y="53949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Qurilish sohasi to‘xtamaydi, demak deraza-rom profillariga talab ham to‘xtamaydi.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HUDUDIY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Filiallar Tarmog‘i — 4 Ta Hududiy Markaz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Olmaliq Filiali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0058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601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Sanoat shahri, yuqori qurilish sur’atlari va faol tsexoviklar bazasi.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5" name="Text 13"/>
          <p:cNvSpPr/>
          <p:nvPr/>
        </p:nvSpPr>
        <p:spPr>
          <a:xfrm>
            <a:off x="34747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747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Guliston Filiali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7490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18" name="Text 16"/>
          <p:cNvSpPr/>
          <p:nvPr/>
        </p:nvSpPr>
        <p:spPr>
          <a:xfrm>
            <a:off x="37490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110 ta Tsex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7490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27.5%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033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Sirdaryo viloyati markazi, 2 mln $ oylik bozorining 30% dilerlik ulushi.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3" name="Text 21"/>
          <p:cNvSpPr/>
          <p:nvPr/>
        </p:nvSpPr>
        <p:spPr>
          <a:xfrm>
            <a:off x="62179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03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Bo‘ka Filiali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4922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26" name="Text 24"/>
          <p:cNvSpPr/>
          <p:nvPr/>
        </p:nvSpPr>
        <p:spPr>
          <a:xfrm>
            <a:off x="64922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64922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viloyati janubiy mintaqasi tsexlarini to‘liq qamrab olgan markaz.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173736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EE3526"/>
                </a:solidFill>
              </a:rPr>
              <a:t>FILIAL 04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961120" y="21031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Yangiyo‘l Filiali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235440" y="2743200"/>
            <a:ext cx="1920240" cy="1005840"/>
          </a:xfrm>
          <a:prstGeom prst="roundRect">
            <a:avLst>
              <a:gd name="adj" fmla="val 9091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9235440" y="28346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90 ta Tsex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9235440" y="33375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0B981"/>
                </a:solidFill>
              </a:rPr>
              <a:t>ULUSH: 22.5%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9189720" y="4023360"/>
            <a:ext cx="20116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Toshkent shahriga yaqin strategik logistika tuguni va yirik klaster.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OPERATSION TIZIM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Logistika, Ombor va Transport Infratuzilmasi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pic>
        <p:nvPicPr>
          <p:cNvPr id="5" name="Image 0" descr="C:\Users\WECAN\Downloads\akfa invest 5050\assets\warehou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5029200" cy="4846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31520" y="1463040"/>
            <a:ext cx="5029200" cy="4846320"/>
          </a:xfrm>
          <a:prstGeom prst="rect">
            <a:avLst/>
          </a:prstGeom>
          <a:solidFill>
            <a:srgbClr val="171819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53035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MARKAZIY OMBOR VA LOGISTIKA KLUSTERI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 ta hududga uzluksiz tovar oqimini ta’minlash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0" y="146304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0" y="160020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7 TA XUSUSIY GAZEL AVTOPARKI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0" y="192024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Korxona o‘z transport parkiga ega bo‘lib, 7 ta maxsus jihozlangan Gazel mashinalari profillarni shikastlamasdan yetkazadi.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26480" y="269748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0" y="28346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CALL-MARKAZ VA BUYURTMA TIZIMI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0" y="31546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Mijozlar buyurtmalari yagona call-markaz orqali qabul qilinadi va ombor qoldig‘idan bevosita tsexlarga tezkor jo‘natiladi.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6126480" y="393192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0" y="4069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BEPUL MANZILLI YETKAZISH AFZALLIGI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0" y="438912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Hamkor tsexoviklarga yetkazib berish o‘z hisobimizdan amalga oshiriladi. Bu raqobatchilardan asosiy ustunliklardan biridir.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26480" y="5166360"/>
            <a:ext cx="5303520" cy="1097280"/>
          </a:xfrm>
          <a:prstGeom prst="roundRect">
            <a:avLst>
              <a:gd name="adj" fmla="val 8333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53035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ORQALI KENGAYTIRISH: $100,000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0" y="56235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Yangi investitsiya rejasida avtoparkni yangilash va qo‘shimcha transport vositalarini xarid qilish uchun $100k ajratilgan.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BOZOR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Bozor Hajmi, AKFA Ulushi va Raqobat Muhiti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O‘ZBEKISTON BOZORI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65%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005840" y="292608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AKFA Brendining butun O‘zbekiston bo‘yicha umumiy bozor ulushi.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2979B"/>
                </a:solidFill>
              </a:rPr>
              <a:t>Qolgan 35% ulush boshqa barcha ishlab chiqaruvchilar o‘rtasida taqsimlangan.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1463040"/>
            <a:ext cx="3291840" cy="4846320"/>
          </a:xfrm>
          <a:prstGeom prst="roundRect">
            <a:avLst>
              <a:gd name="adj" fmla="val 41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7373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HUDUDIY BOZORLAR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10312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0B981"/>
                </a:solidFill>
              </a:rPr>
              <a:t>30%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63440" y="2926080"/>
            <a:ext cx="27432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~3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Sirdaryo viloyati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Oylik hajm ~2 mln $, bizning ulush 30%.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Toshkent shahri bozori: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25–30 mln $ hajm (hozir 1% dan kam, kelajakdagi ulkan o‘sish potensiali).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463040"/>
            <a:ext cx="3383280" cy="4846320"/>
          </a:xfrm>
          <a:prstGeom prst="roundRect">
            <a:avLst>
              <a:gd name="adj" fmla="val 405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173736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RAQOBATCHILAR PROFILI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321040" y="2103120"/>
            <a:ext cx="2834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9BEC2"/>
                </a:solidFill>
              </a:rPr>
              <a:t>50+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8321040" y="29260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Bozordagi muqobil ishlab chiqaruvchilar: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34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Alyuminiy: 10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PVX profillar: 40 dan ortiq brend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• Asosiy muqobillar: Ekopen, Alutex, Alta Plast, Imkon Plast va b.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AKFA ustunligi: kuchli brend kuchi, eng keng assortiment, logistika va narx kafolati.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MOLIYAVIY HISOBOT 2023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Moliyaviy Natijalari — Tarixiy Eng Yuqori Cho‘qqi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193.24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16.10 mlrd UZS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5.92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Oylik o‘rtacha: 493.5 mln UZS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3.06%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Eng yuqori marja: May oyida 3.07%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Avgust: 21.0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755 mln UZS (mavsum cho‘qqisi)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2023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Izoh / Mavsumiy Holat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10 340 000 000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Mavsumiy yuqori faollik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676 000 000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Boshlang‘ich / qishki mavsum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193 240 000 000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5 922 000 000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yakuniy ko‘rsatkich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MOLIYAVIY HISOBOT 2024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Moliyaviy Natijalari va O‘zgarishlar Dinamikasi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172.20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-10.9%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BEC2"/>
                </a:solidFill>
              </a:rPr>
              <a:t>4.63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-21.9%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2.69%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2023 ga nisbatan: -0.37% punkt pasayish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ENG YUQORI OY (PIK)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Sentabr: 21.2 mlrd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Foyda: 785 mln UZS (kuzgi cho‘qqi)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2024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 Ga Nisbatan Farq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471 000 000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785 000 000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4 627 000 000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MOLIYAVIY HISOBOT 2025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Natijalari — Aylanma Pasayishi va Mart Oyi Anomaliyasi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133.10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-22.7% pasayish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YILLIK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2.59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2024 ga nisbatan: -44.0% pasayish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1.95%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Tarixiy eng past daraja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MART OYI NATIJASI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0 UZS FOYDA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6.8 mlrd aylanmada sof foyda ko‘rilmagan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657600"/>
            <a:ext cx="10698480" cy="2651760"/>
          </a:xfrm>
          <a:prstGeom prst="roundRect">
            <a:avLst>
              <a:gd name="adj" fmla="val 5172"/>
            </a:avLst>
          </a:prstGeom>
          <a:solidFill>
            <a:srgbClr val="242628"/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384048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E3526"/>
                </a:solidFill>
              </a:rPr>
              <a:t>DIQQAT: INVESTOR UCHUN 2025-YIL CHUQUR TAHLILI VA SABABLARI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297680"/>
            <a:ext cx="101498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1. Mart Oyi 0 Foydasi: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Mart oyida 6,800,000,000 UZS aylanma bo‘lishiga qaramay, hisobotda sof foyda 0 ko‘rsatilgan. Bu ombor xatlovlari, yillik qayta hisob-kitoblar yoki operatsion zararlarga bog‘liq bo‘lishi mumkin (batafsil tekshiruv talab etiladi).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2. Aylanma Kapital Yetishmovchiligi: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Aylanma va foydaning pasayishi bozor talabi yo‘qligidan emas, balki tovar zaxirasi yetishmovchiligi va aylanma mablag‘larning cheklanganligidan kelib chiqqan.
</a:t>
            </a:r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</a:rPr>
              <a:t>3. Nega Yangi Investitsiya ($2M) Zarur: </a:t>
            </a:r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Aynan aylanma kapital yetishmagani uchun korxona to‘liq quvvatda ishlay olmayapti. Yangi kapital kiritilishi aylanmani 276 mlrd UZS ga olib chiqish imkonini beradi.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2025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2025-Yil 12 Oylik To‘liq Moliyaviy Ko‘rsatkichlar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Aylangan Summa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Holat / Xulosa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7 300 000 000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 DIQQAT: 0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13 800 000 000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13 900 000 000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383 000 000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17 400 000 000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Pik oy (Avgust)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10 200 000 000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11 700 000 000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9 500 000 000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Muntazam oqim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133 100 000 000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2 592 000 000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Kapital tanqisligi yili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TAQQOSLAMA TAHLIL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2023–2025 Uch Yillik Yig‘ma Solishtirma Tahlil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219456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645920"/>
                <a:gridCol w="1645920"/>
                <a:gridCol w="1645920"/>
                <a:gridCol w="18288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Asosiy Ko‘rsatkich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2025-Yil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Yillik Jami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Trend / O‘zgarish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Aylanma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193.24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172.20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133.10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498.54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-31.1%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Foyda (UZS)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5.92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4.63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2.59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13.14 mlrd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-56.2% (2023 vs 2025)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O‘rtacha Oylik Foyda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493.5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385.6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365.0 mln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Pasayish tendensiyasi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Foyda Marjasi (%)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bosimi (-1.11%)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31520" y="3931920"/>
          <a:ext cx="1069848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MAVSUMIYLIK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Oylik Kompleks Dinamika va Mavsumiylik Faktori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PIK MAVSUM: MAY — OKTABR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Barcha 3 yilda eng yuqori savdo hajmlari yoz va kuz oylariga to‘g‘ri kelgan. Aylanmaning 65% qismi ushbu 6 oyda amalga oshiriladi.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PASAYISH MAVSUMI: NOYABR — MART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262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Qish faslida qurilish va montaj ishlari sekinlashishi hisobiga savdo tabiiy ravishda pasayadi. Shu sababli aylanma kapitalni to‘g‘ri rejalashtirish o‘ta muhim.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83880" y="16459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AVTO-YETKAZISHNING AHAMIYATI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83880" y="201168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9BEC2"/>
                </a:solidFill>
              </a:rPr>
              <a:t>Mavsum paytida tsexoviklar tezkor tovar talab qiladi. Kim profillarni tezroq ombordan yetkazib bersa, o‘sha diler bozor ulushini saqlab qoladi.</a:t>
            </a:r>
            <a:endParaRPr lang="en-US" sz="10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731520" y="3383280"/>
          <a:ext cx="106984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INVESTOR PROGNOZI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Prognozi — Yangi Investitsiya Bilan Kengayish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JAMI AYLANMA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276.00 mlrd UZS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+107% o‘sish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747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PROGNOZ SOF FOYDA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118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</a:rPr>
              <a:t>4.52 mlrd UZS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118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2025 ga nisbatan: +74% o‘sish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9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O‘RTACHA FOYDA MARJASI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355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E3526"/>
                </a:solidFill>
              </a:rPr>
              <a:t>1.64%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550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Hajm hisobiga marja tiklanishi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920240"/>
          </a:xfrm>
          <a:prstGeom prst="roundRect">
            <a:avLst>
              <a:gd name="adj" fmla="val 5714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16459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2979B"/>
                </a:solidFill>
              </a:rPr>
              <a:t>AYLANMADAGI KAPITAL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0982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$3,000,000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098280" y="265176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Iyul oyida aylanmada turgan summa</a:t>
            </a:r>
            <a:endParaRPr lang="en-US" sz="10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731520" y="3657600"/>
          <a:ext cx="106984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PROGNOZ JADVAL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Kelgusi Davr Uchun 12 Oylik Prognoz Jadvali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10698480" cy="4846320"/>
        </p:xfrm>
        <a:graphic>
          <a:graphicData uri="http://schemas.openxmlformats.org/drawingml/2006/table">
            <a:tbl>
              <a:tblPr/>
              <a:tblGrid>
                <a:gridCol w="1645920"/>
                <a:gridCol w="2743200"/>
                <a:gridCol w="2286000"/>
                <a:gridCol w="1645920"/>
                <a:gridCol w="2377440"/>
              </a:tblGrid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Aylanma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Rejadagi Foyda (UZS)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Marja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Aylanmadagi O‘rtacha Summa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Yanvar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376.7 mln o‘rtacha daromad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Iyul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3,000,000 $ (Pik)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Avgust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Oktabr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Noyabr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Dekabr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34616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PROGNOZ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276 000 000 000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4 520 000 000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 mlrd sof foyda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B98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KAPITAL TAQSIMOTI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$2,000,000 Investitsiya Mablag‘larining Aniq Taqsimoti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463040"/>
          <a:ext cx="6583680" cy="484632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822960"/>
                <a:gridCol w="2560320"/>
              </a:tblGrid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Xarajat Yo‘nalishi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Ajratilgan Summa ($)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Ulush (%)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Tafsilotlar va Maqsadli Vazifa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Tovar Summasi (Zaxira)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$1,500,000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AKFA zavodidan to‘g‘ridan-to‘g‘ri profillar, radiator va butlovchilar zaxirasini shakllantirish.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Hamkorlarga Limit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60 ta ishonchli sexovik hamkorlarga aylanma tovar limiti ajratish (har biriga o‘rtacha $5,000).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Transport Parki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Yangi maxsus yuk mashinalari (Gazel) xarid qilish va logistika parkini yangilash.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Skladlarni Tayyorlash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Omborxona stellajlari, yuklash-tushirish texnikalari va xavfsizlik tizimlarini modernizatsiya qilish.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Hamkorlar Jalb Qilish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B2B marketing, taqdimotlar, tsex egalari uchun maxsus rag‘batlantirish aksiyalari.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Qoldiq / Rezerv Fondi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Operatsion xarajatlar va kutilmagan vaziyatlar uchun erkin likvid zaxira.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JAMI INVESTITSIYA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To‘liq kapital ehtiyoji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35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0" descr=""/>
          <p:cNvGraphicFramePr/>
          <p:nvPr/>
        </p:nvGraphicFramePr>
        <p:xfrm>
          <a:off x="7589520" y="1645920"/>
          <a:ext cx="384048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HAMKORLAR LIMITI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Hamkorlarga Limit Mexanizmi — Savdo Aylanmasi Lokomotivi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60 Saralangan Tsexovik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Barcha 400 tsex orasidan faqat to‘lov intizomi yuqori va yirik aylanmali 60 ta tsexovik tanlab olinadi.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02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6118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O‘rtacha $5,000 Tovar Limiti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118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Jami $300,000 fond hisobidan har bir tsexga 5,000$ gacha profillar nasiya / to‘lov kechiktirish bilan beriladi.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550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7–15 Kunlik Aylanma Sikli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Tsex buyurtmani bajarib, deraza-romni mijozga o‘rnatgach, 1-2 haftada pulni qaytaradi va yangi tovar oladi.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73736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E3526"/>
                </a:solidFill>
              </a:rPr>
              <a:t>04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098280" y="23774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Aylanma Multiplikatori: 12-24x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98280" y="3108960"/>
            <a:ext cx="2194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$300,000 lik fond yiliga 15-20 marta aylanib, qo‘shimcha 4-6 mln $ lik yillik aylanmani shakllantiradi.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DAROMAD MODELI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Ulushi va Foyda Taqsimoti Ssenariylari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EC2"/>
                </a:solidFill>
              </a:rPr>
              <a:t>Diqqat: Excel hujjatida investor ulushi va kompaniya bahosi ochiq qoldirilgan. Quyida professional investitsiya amaliyotiga mos 5 ta real ssenariy taqdim etiladi: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828800"/>
                <a:gridCol w="1645920"/>
                <a:gridCol w="1645920"/>
                <a:gridCol w="20116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/ Model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Ulushi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Foyda ($ equivalent)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Yillik Daromadlilik (ROI)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Qoplanish Muddati (Payback)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Ssenariy Sharhi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2A1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A: Konservativ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$140,800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Minimal xavf va passiv ishtirok modeli.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B: Muvozanatli Ulush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$176,000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92979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Standart xususiy sarmoya (Private Equity) sharti.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C: Standart Hamkorlik (Tavsiya)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35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$211,200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 ikki tomon uchun eng maqbul adolatli balans.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D: Yuqori Rentabellik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$246,400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Investorga imtiyozli dividend to‘lash ssenariysi.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30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E: Strategik Nazorat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$281,600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 /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 yil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B9BEC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Boshqaruvda faol ishtirok etuvchi investor uchun.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D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26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RISK TAHLILI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Xatarlar Boshqaruvi va Risk-Menejment Matritsasi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634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YUQORI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Mijozlar Nasiya Qarz Qaytmasligi Riski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Sexoviklarga mahsulot nasiya berilganda qarz uzilmasligi ehtimoli mavjud.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144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Top 60 sexovik faqat qat’iy shartnoma, garov, limit va kafil asosida ishlaydi. 15 kundan oshgan qarzga darhol yangi tovar berish to‘xtatiladi.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160020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10149840" y="160020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0" y="16002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Valyuta Kursi va Inflyatsiya Riski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0" y="205740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So‘m qadrsizlanishi hisobiga xarid narxlarining o‘sishi.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260604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Barcha profillar narxi xalqaro dollar kursiga bog‘langan. Narxlar avtomatik korreksiya qilinadi, mahsulot zanglamaydi va qadrini yo‘qotmaydi.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O‘RTA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144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Mavsumiy Talabning Pasayishi (Qish)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144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Noyabr-Fevral oylarida qurilish sur’atlarining tushib ketishi.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144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Qishki mavsumda isitish radiatorlari va butlovchi qismlar savdosi faollashtiriladi. Aylanma kapital ombor zaxirasiga to‘g‘ri taqsimlanadi.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17920" y="3840480"/>
            <a:ext cx="5212080" cy="2103120"/>
          </a:xfrm>
          <a:prstGeom prst="roundRect">
            <a:avLst>
              <a:gd name="adj" fmla="val 5217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149840" y="3977640"/>
            <a:ext cx="1097280" cy="320040"/>
          </a:xfrm>
          <a:prstGeom prst="roundRect">
            <a:avLst>
              <a:gd name="adj" fmla="val 22857"/>
            </a:avLst>
          </a:prstGeom>
          <a:solidFill>
            <a:srgbClr val="10B981"/>
          </a:solidFill>
          <a:ln/>
        </p:spPr>
      </p:sp>
      <p:sp>
        <p:nvSpPr>
          <p:cNvPr id="25" name="Text 23"/>
          <p:cNvSpPr/>
          <p:nvPr/>
        </p:nvSpPr>
        <p:spPr>
          <a:xfrm>
            <a:off x="10149840" y="39776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PAST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400800" y="39776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AKFA Dilerlik Shartnomasi Shartlari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4434840"/>
            <a:ext cx="4846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9BEC2"/>
                </a:solidFill>
              </a:rPr>
              <a:t>Zavod tomonidan narx yoki dilerlik kvotasining o‘zgartirilishi.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498348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0B981"/>
                </a:solidFill>
              </a:rPr>
              <a:t>Boshqaruv: 7 yillik rasmiy munosabatlar, 4 ta hududdagi mustahkam dilerlik huquqi va O‘zbekiston bo‘yicha 65% brend himoyasi kafolatlangan.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DATA AUDIT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va Muzokaralar: Ochiq Qolgan Asosiy Savollar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16002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002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16002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Aylanma va foyda pasayishining (2023-2025) rasmiy sabablari nima?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95360" y="16002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0" name="Text 8"/>
          <p:cNvSpPr/>
          <p:nvPr/>
        </p:nvSpPr>
        <p:spPr>
          <a:xfrm>
            <a:off x="8595360" y="16002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Tushuntirish zarur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28600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242316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423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24231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2025-yil Mart oyida nega foyda 0 bo‘lgan? Xatlov yoki zarar bormi?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595360" y="242316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16" name="Text 14"/>
          <p:cNvSpPr/>
          <p:nvPr/>
        </p:nvSpPr>
        <p:spPr>
          <a:xfrm>
            <a:off x="8595360" y="242316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Buxgalteriya tekshiruvi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1520" y="310896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24612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2461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463040" y="32461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Prognoz ko‘rsatkichlariga (276 mlrd UZS) erishishning operatsion rejasimi?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595360" y="324612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2" name="Text 20"/>
          <p:cNvSpPr/>
          <p:nvPr/>
        </p:nvSpPr>
        <p:spPr>
          <a:xfrm>
            <a:off x="8595360" y="32461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Marketing / Sotuv rejasi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" y="393192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06908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0690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63040" y="406908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Investorga beriladigan ulush foizi va dividend to‘lovlar davriyligi qanday?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595360" y="406908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28" name="Text 26"/>
          <p:cNvSpPr/>
          <p:nvPr/>
        </p:nvSpPr>
        <p:spPr>
          <a:xfrm>
            <a:off x="8595360" y="40690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Yuridik shartnoma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475488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400" y="489204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4892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48920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Investitsiya muddati va chiqish (Exit Strategy) mexanizmlari qanday belgilanadi?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95360" y="489204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34" name="Text 32"/>
          <p:cNvSpPr/>
          <p:nvPr/>
        </p:nvSpPr>
        <p:spPr>
          <a:xfrm>
            <a:off x="8595360" y="48920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Shartnomaviy band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31520" y="5577840"/>
            <a:ext cx="10698480" cy="713232"/>
          </a:xfrm>
          <a:prstGeom prst="roundRect">
            <a:avLst>
              <a:gd name="adj" fmla="val 102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4400" y="5715000"/>
            <a:ext cx="411480" cy="411480"/>
          </a:xfrm>
          <a:prstGeom prst="ellipse">
            <a:avLst/>
          </a:prstGeom>
          <a:solidFill>
            <a:srgbClr val="EE3526"/>
          </a:solidFill>
          <a:ln/>
        </p:spPr>
      </p:sp>
      <p:sp>
        <p:nvSpPr>
          <p:cNvPr id="37" name="Text 35"/>
          <p:cNvSpPr/>
          <p:nvPr/>
        </p:nvSpPr>
        <p:spPr>
          <a:xfrm>
            <a:off x="914400" y="5715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1463040" y="57150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Filiallar kesimida alohida P&amp;L (Daromad-Xarajat) hisobotlari mavjudmi?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8595360" y="5715000"/>
            <a:ext cx="2560320" cy="411480"/>
          </a:xfrm>
          <a:prstGeom prst="roundRect">
            <a:avLst>
              <a:gd name="adj" fmla="val 17778"/>
            </a:avLst>
          </a:prstGeom>
          <a:solidFill>
            <a:srgbClr val="2D3033"/>
          </a:solidFill>
          <a:ln/>
        </p:spPr>
      </p:sp>
      <p:sp>
        <p:nvSpPr>
          <p:cNvPr id="40" name="Text 38"/>
          <p:cNvSpPr/>
          <p:nvPr/>
        </p:nvSpPr>
        <p:spPr>
          <a:xfrm>
            <a:off x="8595360" y="57150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3526"/>
                </a:solidFill>
              </a:rPr>
              <a:t>⚠ Boshqaruv hisoboti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XULOSA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Strategik Xulosa va Investitsiya Jarayoni Bosqichlari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1-BOSQICH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Muzokaralar va NDA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Dastlabki tijoriy shartlarni kelishish, maxfiylik shartnomasi (NDA) imzolash.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747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2-BOSQICH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Due Diligence (Audit)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Buxgalteriya, ombor qoldiqlari, shartnomalar va bank hisoblarini mustaqil tekshirish.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3-BOSQICH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Yuridik Rasmiylashtirish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Ta’sischilar shartnomasi, investor ulushi va dividend siyosatini tasdiqlash.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961120" y="1463040"/>
            <a:ext cx="2468880" cy="4846320"/>
          </a:xfrm>
          <a:prstGeom prst="roundRect">
            <a:avLst>
              <a:gd name="adj" fmla="val 5556"/>
            </a:avLst>
          </a:prstGeom>
          <a:solidFill>
            <a:srgbClr val="242628"/>
          </a:solidFill>
          <a:ln w="12700">
            <a:solidFill>
              <a:srgbClr val="2D30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61120" y="1463040"/>
            <a:ext cx="2468880" cy="73152"/>
          </a:xfrm>
          <a:prstGeom prst="rect">
            <a:avLst/>
          </a:prstGeom>
          <a:solidFill>
            <a:srgbClr val="EE3526"/>
          </a:solidFill>
          <a:ln/>
        </p:spPr>
      </p:sp>
      <p:sp>
        <p:nvSpPr>
          <p:cNvPr id="22" name="Text 20"/>
          <p:cNvSpPr/>
          <p:nvPr/>
        </p:nvSpPr>
        <p:spPr>
          <a:xfrm>
            <a:off x="8961120" y="18288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EE3526"/>
                </a:solidFill>
              </a:rPr>
              <a:t>4-BOSQICH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098280" y="228600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Kapital Kiritish va Masshtab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3108960"/>
            <a:ext cx="21031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BEC2"/>
                </a:solidFill>
              </a:rPr>
              <a:t>$2M mablag‘ni bosqichma-bosqich yo‘naltirish va aylanmani 276 mlrd UZS ga yetkazish.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E35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 STRATEGIK HAMKORLIK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Yangi Hamkorligimiz Barakali Bo'lsin!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234440"/>
            <a:ext cx="1371600" cy="36576"/>
          </a:xfrm>
          <a:prstGeom prst="rect">
            <a:avLst/>
          </a:prstGeom>
          <a:solidFill>
            <a:srgbClr val="EE3526"/>
          </a:solidFill>
          <a:ln w="12700">
            <a:solidFill>
              <a:srgbClr val="EE352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BEC2"/>
                </a:solidFill>
              </a:rPr>
              <a:t>AKFA Dilerlik Biznesi &amp; Investor — Ishonchli Sheriklik va Muvaffaqiyatli Kelajak Sari</a:t>
            </a:r>
            <a:endParaRPr lang="en-US" sz="1300" dirty="0"/>
          </a:p>
        </p:txBody>
      </p:sp>
      <p:pic>
        <p:nvPicPr>
          <p:cNvPr id="6" name="Image 0" descr="C:\Users\WECAN\Downloads\akfa invest 5050\assets\handsha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346704" y="1828800"/>
            <a:ext cx="548640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346704" y="1828800"/>
            <a:ext cx="5486400" cy="2468880"/>
          </a:xfrm>
          <a:prstGeom prst="roundRect">
            <a:avLst>
              <a:gd name="adj" fmla="val 3704"/>
            </a:avLst>
          </a:prstGeom>
          <a:ln w="19050">
            <a:solidFill>
              <a:srgbClr val="EE35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63040" y="4572000"/>
            <a:ext cx="2926080" cy="594360"/>
          </a:xfrm>
          <a:prstGeom prst="roundRect">
            <a:avLst>
              <a:gd name="adj" fmla="val 46154"/>
            </a:avLst>
          </a:prstGeom>
          <a:solidFill>
            <a:srgbClr val="242628"/>
          </a:solidFill>
          <a:ln w="15240">
            <a:solidFill>
              <a:srgbClr val="EE352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63040" y="4572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E3526"/>
                </a:solidFill>
              </a:rPr>
              <a:t>🤝 O'zaro Manfaatli Hamkorlik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663440" y="4572000"/>
            <a:ext cx="2926080" cy="594360"/>
          </a:xfrm>
          <a:prstGeom prst="roundRect">
            <a:avLst>
              <a:gd name="adj" fmla="val 46154"/>
            </a:avLst>
          </a:prstGeom>
          <a:solidFill>
            <a:srgbClr val="242628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4572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📈 Barqaror O'sish &amp; Yuqori Daromad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863840" y="4572000"/>
            <a:ext cx="2926080" cy="594360"/>
          </a:xfrm>
          <a:prstGeom prst="roundRect">
            <a:avLst>
              <a:gd name="adj" fmla="val 46154"/>
            </a:avLst>
          </a:prstGeom>
          <a:solidFill>
            <a:srgbClr val="242628"/>
          </a:solidFill>
          <a:ln w="1524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863840" y="4572000"/>
            <a:ext cx="2926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🔒 100% Shaffof va Himoyalangan Kapital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718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WECAN\Downloads\akfa invest 5050\assets\constructio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71819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20116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E’TIBORINGIZ UCHUN RAHMAT!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B9BE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AKFA Dilerlik Biznesi — Ishonchli, Barqaror va Yuqori Daromadli Hamkorlik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4023360"/>
            <a:ext cx="5760720" cy="1463040"/>
          </a:xfrm>
          <a:prstGeom prst="roundRect">
            <a:avLst>
              <a:gd name="adj" fmla="val 9375"/>
            </a:avLst>
          </a:prstGeom>
          <a:solidFill>
            <a:srgbClr val="242628">
              <a:alpha val="80000"/>
            </a:srgbClr>
          </a:solidFill>
          <a:ln w="19050">
            <a:solidFill>
              <a:srgbClr val="EE352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474720" y="4206240"/>
            <a:ext cx="5212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Bosh Ofis: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Toshkent viloyati (Olmaliq, Guliston, Bo‘ka, Yangiyo‘l)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Faoliyat: </a:t>
            </a:r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B9BEC2"/>
                </a:solidFill>
              </a:rPr>
              <a:t>AKFA mahsulotlari rasmiy dilerligi va logistika tarmog‘i
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EE3526"/>
                </a:solidFill>
              </a:rPr>
              <a:t>Investitsiya Miqdori: </a:t>
            </a:r>
            <a:pPr algn="ctr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</a:rPr>
              <a:t>$2,000,000 (Aylanma kapital va infratuzilma)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AKFA Dealership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AKFA Dilerlik Biznesi — Investor Prezentatsiyasi</dc:title>
  <dc:subject>PptxGenJS Presentation</dc:subject>
  <dc:creator>AKFA Dealership Strategic Finance</dc:creator>
  <cp:lastModifiedBy>AKFA Dealership Strategic Finance</cp:lastModifiedBy>
  <cp:revision>1</cp:revision>
  <dcterms:created xsi:type="dcterms:W3CDTF">2026-10-18T16:37:16Z</dcterms:created>
  <dcterms:modified xsi:type="dcterms:W3CDTF">2026-10-18T16:37:16Z</dcterms:modified>
</cp:coreProperties>
</file>